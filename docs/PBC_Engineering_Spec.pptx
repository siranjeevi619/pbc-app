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C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A217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5176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SPECIFICATION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8288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PBC Automation Platform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UI, Frontend &amp; Backend Reference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screen, every button and every backend action needed to build this application — written for an engineer with no prior audit background.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7091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domain glossary · architecture · data model · state machine · screen-by-screen UI spec · API reference · roles · tech stack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document  ·  [Your name / team]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GLOSSARY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terms you'll see, in plain English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 — everything else in this deck uses these words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79860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audit job for one client, for one financial year. Everything in the system belongs to an engagement.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PBC (Prepared-by-Client)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list of documents/data the client must hand over so the audit can proceed. This app IS the PBC list.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/ Sample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 checking every transaction, auditors test a smaller, randomly-chosen subset and draw conclusions from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 set of records a sample is drawn from — e.g. all 500 invoices issued in the year.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Representation Letter (MRL)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formal letter the client's management signs, confirming facts and disclosing anything they couldn't provide.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Letter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separate letter from the auditors to management, listing control weaknesses found and recommending fixes.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item whose due date has passed with no response — this drives the reminder logic.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Partner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senior sign-off authority. Any generated letter must be reviewed by this role before it leaves the firm.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front ends, one API, five supporting services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50008" y="1600200"/>
            <a:ext cx="3291840" cy="685800"/>
          </a:xfrm>
          <a:prstGeom prst="rect">
            <a:avLst/>
          </a:prstGeom>
          <a:solidFill>
            <a:srgbClr val="E8ECFA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52928" y="1673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(web)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852928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client contacts only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56248" y="1600200"/>
            <a:ext cx="3291840" cy="685800"/>
          </a:xfrm>
          <a:prstGeom prst="rect">
            <a:avLst/>
          </a:prstGeom>
          <a:solidFill>
            <a:srgbClr val="E8ECFA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7099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59168" y="1673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App (web)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059168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audit team only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584448" y="2926080"/>
            <a:ext cx="5029200" cy="6858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305409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15968" y="2926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Application Server (REST)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995928" y="2286000"/>
            <a:ext cx="2103120" cy="640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99048" y="2286000"/>
            <a:ext cx="2103120" cy="640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15188" y="42519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152" y="436168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6628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906628" y="4873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register, logs, config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1798168" y="3611880"/>
            <a:ext cx="4300880" cy="640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964028" y="42519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8992" y="4361688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055468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3055468" y="4873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Blob — uploaded client files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3947008" y="3611880"/>
            <a:ext cx="2152040" cy="640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12868" y="42519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832" y="4361688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04308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5204308" y="4873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Graph API — sends reminders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6095848" y="3611880"/>
            <a:ext cx="3200" cy="640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261708" y="42519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6672" y="4361688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353148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7353148" y="4873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— fires daily jobs on time</a:t>
            </a:r>
            <a:endParaRPr lang="en-US" sz="750" dirty="0"/>
          </a:p>
        </p:txBody>
      </p:sp>
      <p:sp>
        <p:nvSpPr>
          <p:cNvPr id="37" name="Shape 28"/>
          <p:cNvSpPr/>
          <p:nvPr/>
        </p:nvSpPr>
        <p:spPr>
          <a:xfrm>
            <a:off x="6099048" y="3611880"/>
            <a:ext cx="2145640" cy="640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9410548" y="42519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5512" y="4361688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501988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Generator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9501988" y="4873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Word/PDF templating — letters</a:t>
            </a:r>
            <a:endParaRPr lang="en-US" sz="750" dirty="0"/>
          </a:p>
        </p:txBody>
      </p:sp>
      <p:sp>
        <p:nvSpPr>
          <p:cNvPr id="42" name="Shape 32"/>
          <p:cNvSpPr/>
          <p:nvPr/>
        </p:nvSpPr>
        <p:spPr>
          <a:xfrm>
            <a:off x="6099048" y="3611880"/>
            <a:ext cx="4294480" cy="640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the six core tables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field-level detail for RequestItem is on the next slide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0868" y="16002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0868" y="1600200"/>
            <a:ext cx="3520440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8028" y="16002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8028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name, clientName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fiscalYear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status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78028" y="31821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job everything else belongs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35628" y="16002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5628" y="1600200"/>
            <a:ext cx="3520440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788" y="16002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72788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engagementId (FK)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name, email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role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72788" y="31821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Engagement → many Contacts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30388" y="16002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0388" y="1600200"/>
            <a:ext cx="3520440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7548" y="16002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67548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engagementId, contactId (FK)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type, status, dueDate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see full dictionary →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67548" y="31821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entity — one row per requested item or sample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0868" y="38404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0868" y="3840480"/>
            <a:ext cx="3520440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028" y="3840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8028" y="42976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requestItemId (FK)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fromStatus, toStatus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actor, timestamp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8028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RequestItem → many StatusLog rows (full history)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35628" y="38404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5628" y="3840480"/>
            <a:ext cx="3520440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72788" y="3840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72788" y="42976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engagementId (FK)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type, recipient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sentAt, itemIds[]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72788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reminder actually sent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30388" y="38404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0388" y="3840480"/>
            <a:ext cx="3520440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67548" y="3840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LetterDraft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67548" y="42976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engagementId (FK)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type, content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status (draft/final)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67548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Engagement → many LetterDrafts (mrl / management)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 — RequestItem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your engineering team should build first; everything else reads from it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885584"/>
                <a:gridCol w="2107418"/>
                <a:gridCol w="1109167"/>
                <a:gridCol w="598950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generated by the 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 (FK)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audit engagement this item belongs 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document |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whether sampleRefs is 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string(255)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item name, e.g. “General ledger export”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string(100)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grouping, e.g. “Financial Records”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 (FK)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client contact responsible for this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the overdue flag and all reminder logic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(5 values)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| submitted | reviewed | rejected | cannot_provide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fileRef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(URL)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when the client uploads; pointer into file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sampleRefs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array&lt;string&gt;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type=sample, e.g. ["#014","#028"]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(5 values)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only when status = cannot_provide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by the API whenever reasonCode is 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by the auditor when rejecting a submission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 / updatedAt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audit columns — never let the client set these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lifecycle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state machine every screen in this app reads or writes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97280" y="16002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709928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23360" y="16002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DCE3F7"/>
          </a:solidFill>
          <a:ln w="12700">
            <a:solidFill>
              <a:srgbClr val="DCE3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09928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949440" y="16002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DFEEE5"/>
          </a:solidFill>
          <a:ln w="12700">
            <a:solidFill>
              <a:srgbClr val="DFEE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4944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97280" y="25146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6DFD8"/>
          </a:solidFill>
          <a:ln w="12700">
            <a:solidFill>
              <a:srgbClr val="F6DF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1188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(auditor sends it back)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097280" y="31546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EFE7F5"/>
          </a:solidFill>
          <a:ln w="12700">
            <a:solidFill>
              <a:srgbClr val="EFE7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9728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Provide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1188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 can't share it — reason required)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1672" cy="914400"/>
        </p:xfrm>
        <a:graphic>
          <a:graphicData uri="http://schemas.openxmlformats.org/drawingml/2006/table">
            <a:tbl>
              <a:tblPr/>
              <a:tblGrid>
                <a:gridCol w="1441917"/>
                <a:gridCol w="1552834"/>
                <a:gridCol w="3660252"/>
                <a:gridCol w="443666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action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uploads a file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fileRef, set status, insert StatusLog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cannot_provide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submits reason + justification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both fields server-side; reject with 400 if missing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clicks Accept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status=reviewed, insert StatusLog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clicks Request resubmission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status + reviewNote; item re-enters the reminder pool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re-uploads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pending → submitted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cannot_provide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changes mind and uploads later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pending → submitted; clears reasonCode/justification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1 — Firm Ledger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home screen every auditor opens first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22960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14400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58998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50438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3050438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95037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86477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186477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review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231075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22515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4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322515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provide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367114" y="2011680"/>
            <a:ext cx="199887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58554" y="2084832"/>
            <a:ext cx="181599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0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458554" y="2493569"/>
            <a:ext cx="181599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2960" y="2971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88720" y="29718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7492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2971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36676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22960" y="3264408"/>
            <a:ext cx="10543032" cy="0"/>
          </a:xfrm>
          <a:prstGeom prst="line">
            <a:avLst/>
          </a:prstGeom>
          <a:noFill/>
          <a:ln w="12700">
            <a:solidFill>
              <a:srgbClr val="D6D3C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296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88720" y="3383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export (FY24)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07492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Raman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858000" y="3383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366760" y="34564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366760" y="3456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822960" y="3922776"/>
            <a:ext cx="10543032" cy="566928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2960" y="3977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88720" y="39776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 samples — Q4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074920" y="3977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Mehta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85800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8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8366760" y="405079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DCE3F7"/>
          </a:solidFill>
          <a:ln w="12700">
            <a:solidFill>
              <a:srgbClr val="DCE3F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366760" y="4050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Review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822960" y="4572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1188720" y="4572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party transactions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5074920" y="4572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Mehta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858000" y="4572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8366760" y="464515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6DFD8"/>
          </a:solidFill>
          <a:ln w="12700">
            <a:solidFill>
              <a:srgbClr val="F6DFD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366760" y="4645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Resubmission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822960" y="5111496"/>
            <a:ext cx="10543032" cy="566928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22960" y="5166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1188720" y="5166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salary register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5074920" y="5166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 Nair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6858000" y="5166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27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8366760" y="523951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FE7F5"/>
          </a:solidFill>
          <a:ln w="12700">
            <a:solidFill>
              <a:srgbClr val="EFE7F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366760" y="52395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Provide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1 — Firm Ledger  ·  element 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frontend behaviour and backend logic for every control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07418"/>
                <a:gridCol w="4436669"/>
                <a:gridCol w="454758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(what it does)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(what it does)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bar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pills in the header; active tab shown white-on-navy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call — pure UI state. Each tab renders a different view of the same RequestItem table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 cards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boxes: a big number + small label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load: COUNT(*) grouped by status, plus a count where dueDate&lt;today AND status IN (pending, rejected)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chips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of small toggle buttons (All / Pending / ...)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the already-fetched list client-side, or re-queries GET /items?status=X for large datasets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“New request” button + modal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Form: item name, category, contact name/email, due date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/items — validates required fields, sets status=pending, writes StatusLog, emails the contact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“Automation Center” button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automation modal (screen 4)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outstanding items + schedule config via GET /automation/preview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rows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/ Item / Contact / Due (+overdue badge) / Status pill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from GET /items?engagementId=...; overdue badge computed client-side from dueDate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/ Resubmit icons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only when status = submitted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/items/{id}/review {decision}; updates status, writes StatusLog, re-queues reminders if rejected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2 — Sample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audit sampling decision into a trackable client request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22960" y="2011680"/>
            <a:ext cx="10543032" cy="1417320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4884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61872" y="2112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selection calculator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6012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size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60120" y="2697480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51560" y="2697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4612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46120" y="2697480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37560" y="2697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53212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532120" y="2697480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623560" y="2697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818120" y="26974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18120" y="26974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2296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sample numbers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2296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2296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#014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164592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64592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#028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46888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46888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#041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329184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29184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#052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11480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11480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#069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93776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3776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#077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76072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76072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#083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6583680" y="38862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583680" y="38862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#095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822960" y="4389120"/>
            <a:ext cx="10543032" cy="0"/>
          </a:xfrm>
          <a:prstGeom prst="line">
            <a:avLst/>
          </a:prstGeom>
          <a:noFill/>
          <a:ln w="12700">
            <a:solidFill>
              <a:srgbClr val="D6D3CE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572000"/>
            <a:ext cx="256032" cy="256032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1234440" y="452628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 samples — Q4 (8 items)  →  sent to Arjun Mehta, due Oct 8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9445752" y="455371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9445752" y="4553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2 — Sample Selection  ·  element 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part of this app that runs a real algorithm, not just CRUD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3993002"/>
                <a:gridCol w="443666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(what it does)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(what it does)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/ Sample size / Method inputs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number fields + a dropdown (Random / Systematic)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client-side inputs — no call until Generate is pressed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“Generate” button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Navy pill button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sampling: random draws N unique ints in 1..population; systematic picks every kth item from a random offset. Returns the array — nothing is saved yet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number chips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of small pill tags (#014, #028, ...)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display of the array returned by Generate — no backend 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“Send sample request” mini-form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/ contact / due-date fields under the chips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/items {type: "sample", sampleRefs: [...] } — same creation path as a normal 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“Existing sample requests” 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row layout as the Firm Ledger, filtered to samples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/items?type=sample&amp;engagementId=...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3 — Client Portal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screen an external, non-firm user ever sees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22960" y="201168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confirmation letters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2359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27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26280" y="2194560"/>
            <a:ext cx="320040" cy="320040"/>
          </a:xfrm>
          <a:prstGeom prst="rect">
            <a:avLst/>
          </a:prstGeom>
          <a:solidFill>
            <a:srgbClr val="E8ECFA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249424"/>
            <a:ext cx="210312" cy="21031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937760" y="2194560"/>
            <a:ext cx="320040" cy="320040"/>
          </a:xfrm>
          <a:prstGeom prst="rect">
            <a:avLst/>
          </a:prstGeom>
          <a:solidFill>
            <a:srgbClr val="EFE7F5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2249424"/>
            <a:ext cx="210312" cy="21031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22960" y="2788920"/>
            <a:ext cx="4937760" cy="658368"/>
          </a:xfrm>
          <a:prstGeom prst="rect">
            <a:avLst/>
          </a:prstGeom>
          <a:solidFill>
            <a:srgbClr val="F7F8FC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60120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 register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60120" y="3136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27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526280" y="2971800"/>
            <a:ext cx="320040" cy="320040"/>
          </a:xfrm>
          <a:prstGeom prst="rect">
            <a:avLst/>
          </a:prstGeom>
          <a:solidFill>
            <a:srgbClr val="E8ECFA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3026664"/>
            <a:ext cx="210312" cy="21031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937760" y="2971800"/>
            <a:ext cx="320040" cy="320040"/>
          </a:xfrm>
          <a:prstGeom prst="rect">
            <a:avLst/>
          </a:prstGeom>
          <a:solidFill>
            <a:srgbClr val="EFE7F5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3026664"/>
            <a:ext cx="210312" cy="21031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22960" y="356616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60120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salary register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6012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27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526280" y="3749040"/>
            <a:ext cx="320040" cy="320040"/>
          </a:xfrm>
          <a:prstGeom prst="rect">
            <a:avLst/>
          </a:prstGeom>
          <a:solidFill>
            <a:srgbClr val="E8ECFA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3803904"/>
            <a:ext cx="210312" cy="21031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4937760" y="3749040"/>
            <a:ext cx="320040" cy="320040"/>
          </a:xfrm>
          <a:prstGeom prst="rect">
            <a:avLst/>
          </a:prstGeom>
          <a:solidFill>
            <a:srgbClr val="EFE7F5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3803904"/>
            <a:ext cx="210312" cy="210312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5943600" y="2011680"/>
            <a:ext cx="5330952" cy="4069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2C90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172200" y="214884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provide this item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172200" y="2487168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reason and explain — required before this can be submitted.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6199632" y="3090672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6400800" y="3008376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policy restricts sharing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6199632" y="3383280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400800" y="3300984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regulatory restriction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199632" y="3675888"/>
            <a:ext cx="118872" cy="118872"/>
          </a:xfrm>
          <a:prstGeom prst="ellipse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6400800" y="359359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/ confidentiality concern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6199632" y="3968496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6400800" y="388620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 available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6172200" y="4343400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(required)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6172200" y="4599432"/>
            <a:ext cx="4873752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6263640" y="4654296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data contains personal bank details; HR policy restricts export outside secure HRMS...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6172200" y="5532120"/>
            <a:ext cx="4873752" cy="365760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6172200" y="55321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50" dirty="0"/>
          </a:p>
        </p:txBody>
      </p:sp>
      <p:sp>
        <p:nvSpPr>
          <p:cNvPr id="54" name="Text 45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3 — Client Portal  ·  element 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screen where server-side validation matters most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3993002"/>
                <a:gridCol w="443666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(what it does)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(what it does)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“Viewing as” contact selector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 of client contact emails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Prototype-only stand-in for login. In production this comes from the authenticated session, never a dropdown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assigned item: name + due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/items?contactId=... — the server must enforce this filter itself; never trust a client-supplied contactId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icon + modal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file picker for one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/items/{id}/submit — multipart upload to file storage; save the returned URL to fileRef; set status=submitted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“Can't provide” icon + modal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Shield icon opens: radio list of reasons + required justification 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/items/{id}/cannot-provide {reasonCode, justification}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reason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Single-select, one option always chosen before Submit enables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reasonCode is a fixed backend enum, not free text — this is what lets letters map reasons to recommendations automatically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 textarea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box, ~3 lines, required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rejects with 400 if reasonCode is set but justification is empty/whitespace — never rely on client-side “required” alone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4 — Automation Center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daily reminder emails are configured, previewed and sent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22960" y="20116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0116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EOD reminders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926080" y="20116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26080" y="20116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daily digest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0" y="20116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20116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22960" y="2514600"/>
            <a:ext cx="10543032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596896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2514600"/>
            <a:ext cx="9994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 Internal digest 09:00   ·   Client EOD reminder 17:30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22960" y="3081528"/>
            <a:ext cx="105430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2960" y="3081528"/>
            <a:ext cx="10543032" cy="457200"/>
          </a:xfrm>
          <a:prstGeom prst="rect">
            <a:avLst/>
          </a:prstGeom>
          <a:solidFill>
            <a:srgbClr val="F7F8FC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05840" y="3081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Raman  —  priya.raman@clientco.com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257032" y="3163824"/>
            <a:ext cx="256032" cy="256032"/>
          </a:xfrm>
          <a:prstGeom prst="ellipse">
            <a:avLst/>
          </a:prstGeom>
          <a:solidFill>
            <a:srgbClr val="A03A22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3209544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577072" y="3081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overdue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9674352" y="316382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674352" y="31638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10543032" y="316382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543032" y="3163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now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1005840" y="3675888"/>
            <a:ext cx="10177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End-of-day check — pending audit requirements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Priya,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close out today, could you check the status of the items below?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General ledger export (FY24) — overdue by 4 days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Bank confirmation letters — overdue by 1 day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Thanks for keeping this moving,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Team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4 — Automation Center  ·  element 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scheduled jobs and their manual override, in one modal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4214835"/>
                <a:gridCol w="465850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(what it does)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(what it does)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Sub-tabs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pills: Client EOD / Internal digest / Send log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UI state; each tab calls a different read endpoint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inputs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time pickers next to a gear icon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/automation/schedule {internalTime, clientTime} — saved to config; read by the scheduler on its next tick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Drafted email card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card per client contact: subject + body preview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Query: items WHERE status IN (pending, rejected) grouped by contactId, merged into a text template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“Copy” button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button, top-right of the card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navigator.clipboard.writeText(body) — no backend call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“Send now” button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button, top-right of the card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/automation/send {contactId, itemIds} — calls the email service, then inserts one AutomationLog row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log tab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Reverse-chronological list with timestamps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/automation/log?engagementId=... — the audit trail proving reminders actually went out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5 — Letters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register data into a first draft — never a final, client-ready letter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270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Request Register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5955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Ledger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06831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6831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7707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0085832" y="14904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A2170"/>
          </a:solidFill>
          <a:ln w="9525">
            <a:solidFill>
              <a:srgbClr val="3D5A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85832" y="1490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22960" y="2011680"/>
            <a:ext cx="513435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10312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Representation Letter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905756" y="213969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05756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005840" y="2542032"/>
            <a:ext cx="4768596" cy="0"/>
          </a:xfrm>
          <a:prstGeom prst="line">
            <a:avLst/>
          </a:prstGeom>
          <a:noFill/>
          <a:ln w="12700">
            <a:solidFill>
              <a:srgbClr val="D6D3C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51560" y="2670048"/>
            <a:ext cx="46771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...with respect to the following items requested during the audit, management represents that these could not be made available: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Employee salary register — Data security / confidentiality concern. Salary data contains personal bank details; HR policy restricts export...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51560" y="5715000"/>
            <a:ext cx="4677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 — for engagement partner review before issuance.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231636" y="2011680"/>
            <a:ext cx="5134356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2148840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88836" y="210312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Letter — Deficiencies &amp; Recommendations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10314432" y="213969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2C90"/>
          </a:solidFill>
          <a:ln w="12700">
            <a:solidFill>
              <a:srgbClr val="0E2C9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314432" y="21396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414516" y="2542032"/>
            <a:ext cx="4768596" cy="0"/>
          </a:xfrm>
          <a:prstGeom prst="line">
            <a:avLst/>
          </a:prstGeom>
          <a:noFill/>
          <a:ln w="12700">
            <a:solidFill>
              <a:srgbClr val="D6D3C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60236" y="2670048"/>
            <a:ext cx="46771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Observation — Employee salary register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Could not be obtained. Reason: data security policy.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Recommendation: Set up a controlled-access data room so sensitive records can be shared with auditors without compromising security controls.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460236" y="5715000"/>
            <a:ext cx="4677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 — for engagement partner review before issuance.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5 — Letters  ·  element 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riskiest screen in the app — treat the output as a draft, always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3993002"/>
                <a:gridCol w="465850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(what it does)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(what it does)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“Generate / refresh” button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pill, top-right of each letter card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/letters/{type}/generate — pulls items where status=cannot_provide (MRL) or IN (cannot_provide, rejected) (mgmt letter), merges into the firm's template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 text area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monospace box holding the full letter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blur: PUT /letters/{id} {content} — saved as a draft; never auto-sent anywhere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“Copy” button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button next to Generate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Clipboard only — no backend call. Auditor pastes into Word/Outlook for the real sign-off process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“Draft only” caption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italic line at the bottom of each card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stored — but LetterDraft.status (draft/final) should enforce the same rule server-side: only a Partner-role user can call POST /letters/{id}/finalize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scheduled jobs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reuse the exact same send-and-log function the UI's “Send now” button calls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5394960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 — Internal daily digest  (cron: schedule.internalTime)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5120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engagement: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overdue = items where status in (pending, rejected)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dueDate &lt; today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awaitingReview = items where status = submitted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cannotProvide = items where status = cannot_provide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all three lists are empty: skip this engagement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= renderTemplate(internalDigestTemplate, {...})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send(to: engagement.auditTeamEmail, subject, body)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AutomationLog(type='internal_digest', ...)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56052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engagement per day, at the configured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45352" y="15087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508760"/>
            <a:ext cx="5394960" cy="384048"/>
          </a:xfrm>
          <a:prstGeom prst="rect">
            <a:avLst/>
          </a:prstGeom>
          <a:solidFill>
            <a:srgbClr val="E8ECFA"/>
          </a:solidFill>
          <a:ln w="12700">
            <a:solidFill>
              <a:srgbClr val="E8EC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508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 — Client end-of-day reminder  (cron: schedule.clientTime)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82512" y="1965960"/>
            <a:ext cx="5120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engagement: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outstanding = items where status in (pending, rejected)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grouped = group outstanding by contactId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(contact, items) in grouped: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 = renderTemplate(eodTemplate, {contact, items})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send(to: contact.email, subject, body)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AutomationLog(type='client_eod', ...)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UI “Send now” button calls this same function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scoped to one contact instead of the full sweep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82512" y="56052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email per client contact, listing only their outstanding items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surface area needed to power every screen in this deck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4214835"/>
                <a:gridCol w="576766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/items?status=&amp;type=&amp;contactId=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PBC items for an engagement, with filters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/items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request (document or sample)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/items/{id}/submit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uploads a file; marks the item submitted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/items/{id}/cannot-provide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records a reason + justification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/items/{id}/review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accepts or rejects a submitted item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/samples/generate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sampling algorithm; returns numbers, saves nothing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/automation/preview?type=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drafted reminder email(s) without sending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/automation/send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one drafted email immediately; logs it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/automation/log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the automation send history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/automation/schedule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the two daily trigger times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/letters/{type}/generate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Builds/refreshes a letter draft from current register data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/letters/{id}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auditor edits to a letter draft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/letters/{id}/finalize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Partner-only — locks a draft as final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permissions &amp; suggested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what, and what to build it with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349240" cy="914400"/>
        </p:xfrm>
        <a:graphic>
          <a:graphicData uri="http://schemas.openxmlformats.org/drawingml/2006/table">
            <a:tbl>
              <a:tblPr/>
              <a:tblGrid>
                <a:gridCol w="1604772"/>
                <a:gridCol w="37444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Permitted actions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contact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+ act on own assigned items only. Cannot see other clients or internal notes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(staff)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CRUD on items for assigned engagements; accept/reject; generate letters. Cannot finalize letters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Partner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an auditor can do, plus finalize letters and view all firm engagements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/ IT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users, schedules and integrations. No default access to letter content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41732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 stack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7220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89520" y="178308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a component library; signed-URL file uploads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7220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API: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89520" y="219456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or .NET (ASP.NET Core)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722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89520" y="260604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fits this relational schema directly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7220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0" y="3017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object storage or Azure Blob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7220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89520" y="342900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OAuth2/OIDC; separate scopes for client vs internal roles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7220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89520" y="384048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node-cron, or a cloud scheduled function (Azure Functions / AWS EventBridge)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7220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89520" y="425196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SendGrid/SES, or Microsoft Graph API if staying in Outlook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7220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2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generation: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89520" y="466344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docxtemplater / python-docx, or Graph “populate Word template”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Automation — Engineering Specification  ·  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C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A217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229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904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start coding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749040" y="15636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3"/>
          <p:cNvSpPr/>
          <p:nvPr/>
        </p:nvSpPr>
        <p:spPr>
          <a:xfrm>
            <a:off x="4069080" y="1435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this data model against the firm's real engagement/client structure before locking the schema.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749040" y="216712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5"/>
          <p:cNvSpPr/>
          <p:nvPr/>
        </p:nvSpPr>
        <p:spPr>
          <a:xfrm>
            <a:off x="4069080" y="20391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every server-side validation exactly as specified — never trust a client-side “required” field alone.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49040" y="277063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4069080" y="264261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StatusLog and AutomationLog before polishing the UI — they're the compliance backbone, not an afterthought.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749040" y="337413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406908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contactId scoping on every client-portal endpoint; a client must never be able to query another client's items.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749040" y="39776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4069080" y="38496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letter finalization through the Partner role only — the UI caption alone is not a control.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749040" y="458114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4069080" y="44531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security review before any real client data touches file storage or email.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749040" y="518464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4069080" y="50566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one low-risk engagement before firm-wide rollout.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2026-09-14T09:30:37Z</dcterms:created>
  <dcterms:modified xsi:type="dcterms:W3CDTF">2026-09-14T09:30:37Z</dcterms:modified>
</cp:coreProperties>
</file>