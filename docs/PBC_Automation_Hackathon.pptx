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C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9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A217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517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 HACKATHON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Client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Request Process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PBC (Prepared-by-Client) request register that tracks requirements, chases follow-ups automatically, and drafts management letters — so nothing depends on remembering an email thread.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 ·  Internal Audit  ·  Tax  ·  Transfer Pricing  ·  Consulting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  ·  [Your name / team]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Chasing data is eating audit hours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current request-and-follow-up process breaks 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8EC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73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lists live in inboxes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07568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once as an email or Excel attachment — easy to lose in a thread, hard to track at a glance.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48640" cy="548640"/>
          </a:xfrm>
          <a:prstGeom prst="ellipse">
            <a:avLst/>
          </a:prstGeom>
          <a:solidFill>
            <a:srgbClr val="E8EC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8196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673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depend on memory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03720" y="207568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are manual, ad hoc, and get missed when the team is stretched across engagements.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E8EC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739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593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forget to flag what's sent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39959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get emailed back with no status update, so the team re-checks or re-asks for the same item.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72200" y="3611880"/>
            <a:ext cx="548640" cy="548640"/>
          </a:xfrm>
          <a:prstGeom prst="ellipse">
            <a:avLst/>
          </a:prstGeom>
          <a:solidFill>
            <a:srgbClr val="E8EC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37398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593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couldn't be provided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03720" y="39959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withheld data live in scattered emails, not in a form the audit file can rely 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257800"/>
            <a:ext cx="10881360" cy="77724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7725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257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audit staff spend time verifying evidence, not tracking down who has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register, four automated stages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management letter, without an email thread in between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23160" cy="274320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24028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4048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logs the item (or a sample selection) once in the shared register.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320954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196596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83380" y="224028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C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4048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1568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42900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474720" y="34747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uploads the file, or flags it as unavailable with a required reason.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20954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35040" y="1965960"/>
            <a:ext cx="2423160" cy="274320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26580" y="224028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C9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28" y="240487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44768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17220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217920" y="34747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items trigger an automatic end-of-day nudge to the client and a daily digest to the team.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20954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778240" y="196596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669780" y="224028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C9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5228" y="2404872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887968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891540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8961120" y="34747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or incomplete items feed straight into draft management letters.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register, same data — the automation just removes the manual chasing at each stage.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 Ledger — concept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in one place, with live status instead of an inbox search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22960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400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958998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50438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050438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95037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86477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186477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review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31075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22515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4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322515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provide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367114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58554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0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458554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60" y="2971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88720" y="2971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7492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58000" y="2971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22960" y="3264408"/>
            <a:ext cx="10543032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88720" y="3383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export (FY24)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07492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Raman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858000" y="3383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366760" y="34564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66760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22960" y="3922776"/>
            <a:ext cx="10543032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2960" y="3977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188720" y="3977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 samples — Q4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074920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85800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8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366760" y="405079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CE3F7"/>
          </a:solidFill>
          <a:ln w="12700">
            <a:solidFill>
              <a:srgbClr val="DCE3F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66760" y="4050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Review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822960" y="4572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18872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party transactions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5074920" y="4572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858000" y="4572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366760" y="464515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6DFD8"/>
          </a:solidFill>
          <a:ln w="12700">
            <a:solidFill>
              <a:srgbClr val="F6DFD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66760" y="4645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Resubmission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822960" y="5111496"/>
            <a:ext cx="10543032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2960" y="5166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1188720" y="5166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salary register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074920" y="5166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 Nair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858000" y="5166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27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8366760" y="523951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FE7F5"/>
          </a:solidFill>
          <a:ln w="12700">
            <a:solidFill>
              <a:srgbClr val="EFE7F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366760" y="5239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Provide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selection — concept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 sampling and the sample request, in one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22960" y="2011680"/>
            <a:ext cx="10543032" cy="141732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61872" y="2112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selection calculator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601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size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960120" y="26974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5156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2461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46120" y="26974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5321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532120" y="26974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2356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818120" y="26974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818120" y="2697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229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sample numbers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2296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2296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#014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164592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64592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#028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46888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46888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#041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29184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9184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#052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11480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11480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#069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93776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3776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#077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76072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76072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#083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58368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58368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#095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22960" y="4389120"/>
            <a:ext cx="10543032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72000"/>
            <a:ext cx="256032" cy="256032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1234440" y="452628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 samples — Q4 (8 items)  →  sent to Arjun Mehta, due Oct 8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9445752" y="455371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445752" y="4553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82296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sample requests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8229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 samples — Q4 (8 items)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5669280" y="5394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7498080" y="5394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8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8869680" y="543153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DCE3F7"/>
          </a:solidFill>
          <a:ln w="12700">
            <a:solidFill>
              <a:srgbClr val="DCE3F7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869680" y="5431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Review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822960" y="5815584"/>
            <a:ext cx="10543032" cy="4572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22960" y="5870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count sample — FY24 (15 items)</a:t>
            </a:r>
            <a:endParaRPr lang="en-US" sz="1000" dirty="0"/>
          </a:p>
        </p:txBody>
      </p:sp>
      <p:sp>
        <p:nvSpPr>
          <p:cNvPr id="60" name="Text 55"/>
          <p:cNvSpPr/>
          <p:nvPr/>
        </p:nvSpPr>
        <p:spPr>
          <a:xfrm>
            <a:off x="5669280" y="5870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 Nair</a:t>
            </a:r>
            <a:endParaRPr lang="en-US" sz="950" dirty="0"/>
          </a:p>
        </p:txBody>
      </p:sp>
      <p:sp>
        <p:nvSpPr>
          <p:cNvPr id="61" name="Text 56"/>
          <p:cNvSpPr/>
          <p:nvPr/>
        </p:nvSpPr>
        <p:spPr>
          <a:xfrm>
            <a:off x="7498080" y="5870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12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869680" y="590702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869680" y="59070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Portal — concept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honest options for every item: provide it, or explain why not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22960" y="201168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confirmation letters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" y="2359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27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26280" y="2194560"/>
            <a:ext cx="320040" cy="320040"/>
          </a:xfrm>
          <a:prstGeom prst="rect">
            <a:avLst/>
          </a:prstGeom>
          <a:solidFill>
            <a:srgbClr val="E8ECFA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249424"/>
            <a:ext cx="210312" cy="21031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937760" y="2194560"/>
            <a:ext cx="320040" cy="320040"/>
          </a:xfrm>
          <a:prstGeom prst="rect">
            <a:avLst/>
          </a:prstGeom>
          <a:solidFill>
            <a:srgbClr val="EFE7F5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249424"/>
            <a:ext cx="210312" cy="21031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2960" y="2788920"/>
            <a:ext cx="4937760" cy="658368"/>
          </a:xfrm>
          <a:prstGeom prst="rect">
            <a:avLst/>
          </a:prstGeom>
          <a:solidFill>
            <a:srgbClr val="F7F8FC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6012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 register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60120" y="3136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27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26280" y="2971800"/>
            <a:ext cx="320040" cy="320040"/>
          </a:xfrm>
          <a:prstGeom prst="rect">
            <a:avLst/>
          </a:prstGeom>
          <a:solidFill>
            <a:srgbClr val="E8ECFA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3026664"/>
            <a:ext cx="210312" cy="2103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937760" y="2971800"/>
            <a:ext cx="320040" cy="320040"/>
          </a:xfrm>
          <a:prstGeom prst="rect">
            <a:avLst/>
          </a:prstGeom>
          <a:solidFill>
            <a:srgbClr val="EFE7F5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3026664"/>
            <a:ext cx="210312" cy="21031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22960" y="356616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salary register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6012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27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26280" y="3749040"/>
            <a:ext cx="320040" cy="320040"/>
          </a:xfrm>
          <a:prstGeom prst="rect">
            <a:avLst/>
          </a:prstGeom>
          <a:solidFill>
            <a:srgbClr val="E8ECFA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3803904"/>
            <a:ext cx="210312" cy="210312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937760" y="3749040"/>
            <a:ext cx="320040" cy="320040"/>
          </a:xfrm>
          <a:prstGeom prst="rect">
            <a:avLst/>
          </a:prstGeom>
          <a:solidFill>
            <a:srgbClr val="EFE7F5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3803904"/>
            <a:ext cx="210312" cy="21031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943600" y="2011680"/>
            <a:ext cx="5330952" cy="4069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2C90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172200" y="214884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provide this item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6172200" y="2487168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reason and explain — required before this can be submitted.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199632" y="309067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0" y="3008376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policy restricts sharing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6199632" y="338328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6400800" y="3300984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regulatory restriction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6199632" y="3675888"/>
            <a:ext cx="118872" cy="118872"/>
          </a:xfrm>
          <a:prstGeom prst="ellipse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400800" y="35935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/ confidentiality concern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6199632" y="396849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6400800" y="38862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available</a:t>
            </a:r>
            <a:endParaRPr lang="en-US" sz="950" dirty="0"/>
          </a:p>
        </p:txBody>
      </p:sp>
      <p:sp>
        <p:nvSpPr>
          <p:cNvPr id="48" name="Text 39"/>
          <p:cNvSpPr/>
          <p:nvPr/>
        </p:nvSpPr>
        <p:spPr>
          <a:xfrm>
            <a:off x="6172200" y="4343400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(required)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6172200" y="4599432"/>
            <a:ext cx="4873752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263640" y="4654296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data contains personal bank details; HR policy restricts export outside secure HRMS...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6172200" y="5532120"/>
            <a:ext cx="4873752" cy="365760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6172200" y="55321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and justification are saved on the register and flow straight into the management letter draft.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Center — concept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reminders drafted automatically, for the client and for the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2296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011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EOD reminders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0" y="2011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daily digest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2011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2960" y="2514600"/>
            <a:ext cx="10543032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596896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34440" y="2514600"/>
            <a:ext cx="9994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 Internal digest 09:00   ·   Client EOD reminder 17:30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22960" y="3081528"/>
            <a:ext cx="105430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2960" y="3081528"/>
            <a:ext cx="10543032" cy="45720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3081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Raman  —  priya.raman@clientco.com</a:t>
            </a:r>
            <a:endParaRPr lang="en-US" sz="10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3191256"/>
            <a:ext cx="201168" cy="20116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8257032" y="3163824"/>
            <a:ext cx="256032" cy="256032"/>
          </a:xfrm>
          <a:prstGeom prst="ellipse">
            <a:avLst/>
          </a:prstGeom>
          <a:solidFill>
            <a:srgbClr val="A03A2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3209544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577072" y="3081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overdue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9674352" y="316382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674352" y="31638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10543032" y="31638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543032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now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005840" y="3675888"/>
            <a:ext cx="10177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End-of-day check — pending audit requirements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Priya,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close out today, could you check the status of the items below?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General ledger export (FY24) — overdue by 4 days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Bank confirmation letters — overdue by 1 day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 for keeping this moving,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Team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Letters — concept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and incomplete items turn into a draft letter automatically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22960" y="2011680"/>
            <a:ext cx="513435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210312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Representation Letter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905756" y="213969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05756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005840" y="2542032"/>
            <a:ext cx="4768596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51560" y="2670048"/>
            <a:ext cx="46771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...with respect to the following items requested during the audit, management represents that these could not be made available: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Employee salary register — Data security / confidentiality concern. Salary data contains personal bank details; HR policy restricts export...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51560" y="571500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for engagement partner review before issuance.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231636" y="2011680"/>
            <a:ext cx="513435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214884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88836" y="210312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Letter — Deficiencies &amp; Recommendations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10314432" y="213969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314432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414516" y="2542032"/>
            <a:ext cx="4768596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60236" y="2670048"/>
            <a:ext cx="46771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Observation — Employee salary register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Could not be obtained. Reason: data security policy.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Recommendation: Set up a controlled-access data room so sensitive records can be shared with auditors without compromising security controls.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60236" y="571500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for engagement partner review before issuance.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 once piloted on a live engagement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37160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status-check emails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1122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replaces the back-and-forth of asking “did you send this yet?”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49240" cy="137160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653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Same-day visibility on overdue items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040880" y="21122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depends on someone remembering to follow up.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349240" cy="137160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46557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735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recorded reason for every gap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7124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items carry a mandatory justification the audit file can point to.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3108960"/>
            <a:ext cx="5349240" cy="137160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46557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2735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letter drafts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040880" y="37124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and management letters start from real register data, not a blank page.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on tools the firm already has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8368" y="52578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Dataverse — register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154680" y="525780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64408" y="52578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— internal ledger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760720" y="525780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870448" y="52578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Pages — client portal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366760" y="525780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476488" y="52578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— reminders &amp; letters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above are illustrative targets for the pilot, not measured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C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A217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74904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now — every screen in this deck is a working prototype.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490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[Your name]  ·  [Your team / department]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2026-09-13T12:14:16Z</dcterms:created>
  <dcterms:modified xsi:type="dcterms:W3CDTF">2026-09-13T12:14:16Z</dcterms:modified>
</cp:coreProperties>
</file>